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Arim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oNRx2PUgMCFBdKXvrgr0kmYuf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Arim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Arimo-bold.fntdata"/><Relationship Id="rId6" Type="http://schemas.openxmlformats.org/officeDocument/2006/relationships/slide" Target="slides/slide2.xml"/><Relationship Id="rId18" Type="http://schemas.openxmlformats.org/officeDocument/2006/relationships/font" Target="fonts/Arim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Τίτλος και περιεχόμενο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Διαφάνεια τίτλου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9" name="Google Shape;1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6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περιεχόμενο">
  <p:cSld name="Τίτλος και περιεχόμενο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6" name="Google Shape;2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Κεφαλίδα ενότητας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3" name="Google Shape;3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8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Δύο περιεχόμενα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0" name="Google Shape;4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9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Σύγκριση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8" name="Google Shape;4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0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0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Μόνο τίτλος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8" name="Google Shape;5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Κενό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4" name="Google Shape;6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Περιεχόμενο με λεζάντα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9" name="Google Shape;6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3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Εικόνα με λεζάντα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7" name="Google Shape;7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4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0" name="Google Shape;80;p24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Πανοραμική εικόνα με λεζάντα">
  <p:cSld name="Πανοραμική εικόνα με λεζάντα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5" name="Google Shape;8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5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p25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λεζάντα">
  <p:cSld name="Τίτλος και λεζάντα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3" name="Google Shape;9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6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6" name="Google Shape;96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Εισαγωγικά με λεζάντα">
  <p:cSld name="Εισαγωγικά με λεζάντα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0" name="Google Shape;10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7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27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lang="el-GR" sz="80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08" name="Google Shape;108;p27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lang="el-GR" sz="80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Κάρτα ονόματος">
  <p:cSld name="Κάρτα ονόματος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0" name="Google Shape;11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8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στήλες">
  <p:cSld name="3 στήλες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7" name="Google Shape;11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9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9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9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9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3" name="Google Shape;123;p29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29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5" name="Google Shape;125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Στήλη 3 εικόνων">
  <p:cSld name="Στήλη 3 εικόνων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9" name="Google Shape;12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0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30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30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30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5" name="Google Shape;135;p30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p30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30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8" name="Google Shape;138;p30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9" name="Google Shape;139;p30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Κατακόρυφο κείμενο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4" name="Google Shape;14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Κατακόρυφος τίτλος και Κείμενο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1" name="Google Shape;15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2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4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-G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lang="el-GR"/>
              <a:t>ΑΝΆΠΤΥΞΗ ΕΦΑΡΜΟΓΉΣ MICROSERVICES "ECOSMART HOME"🏡</a:t>
            </a:r>
            <a:endParaRPr/>
          </a:p>
        </p:txBody>
      </p:sp>
      <p:grpSp>
        <p:nvGrpSpPr>
          <p:cNvPr id="162" name="Google Shape;162;p1"/>
          <p:cNvGrpSpPr/>
          <p:nvPr/>
        </p:nvGrpSpPr>
        <p:grpSpPr>
          <a:xfrm>
            <a:off x="914400" y="2719541"/>
            <a:ext cx="10363200" cy="2719080"/>
            <a:chOff x="0" y="352578"/>
            <a:chExt cx="10363200" cy="2719080"/>
          </a:xfrm>
        </p:grpSpPr>
        <p:sp>
          <p:nvSpPr>
            <p:cNvPr id="163" name="Google Shape;163;p1"/>
            <p:cNvSpPr/>
            <p:nvPr/>
          </p:nvSpPr>
          <p:spPr>
            <a:xfrm>
              <a:off x="0" y="352578"/>
              <a:ext cx="10363200" cy="623610"/>
            </a:xfrm>
            <a:prstGeom prst="roundRect">
              <a:avLst>
                <a:gd fmla="val 16667" name="adj"/>
              </a:avLst>
            </a:prstGeom>
            <a:solidFill>
              <a:srgbClr val="2CA3E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"/>
            <p:cNvSpPr txBox="1"/>
            <p:nvPr/>
          </p:nvSpPr>
          <p:spPr>
            <a:xfrm>
              <a:off x="30442" y="383020"/>
              <a:ext cx="10302316" cy="562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None/>
              </a:pP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Διαχείριση Smart Home με χρήση Docker &amp; Appsmith</a:t>
              </a:r>
              <a:endPara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0" y="1051068"/>
              <a:ext cx="10363200" cy="623610"/>
            </a:xfrm>
            <a:prstGeom prst="roundRect">
              <a:avLst>
                <a:gd fmla="val 16667" name="adj"/>
              </a:avLst>
            </a:prstGeom>
            <a:solidFill>
              <a:srgbClr val="2CA3E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"/>
            <p:cNvSpPr txBox="1"/>
            <p:nvPr/>
          </p:nvSpPr>
          <p:spPr>
            <a:xfrm>
              <a:off x="30442" y="1081510"/>
              <a:ext cx="10302316" cy="562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None/>
              </a:pP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Μάθημα: Νεφοϋπολογιστική και Προηγμένες Αρχιτεκτονικές Εφαρμογών</a:t>
              </a:r>
              <a:endPara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0" y="1749558"/>
              <a:ext cx="10363200" cy="623610"/>
            </a:xfrm>
            <a:prstGeom prst="roundRect">
              <a:avLst>
                <a:gd fmla="val 16667" name="adj"/>
              </a:avLst>
            </a:prstGeom>
            <a:solidFill>
              <a:srgbClr val="2CA3E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"/>
            <p:cNvSpPr txBox="1"/>
            <p:nvPr/>
          </p:nvSpPr>
          <p:spPr>
            <a:xfrm>
              <a:off x="30442" y="1780000"/>
              <a:ext cx="10302316" cy="562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None/>
              </a:pP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Φοιτητής:Πέτρος Σωτήριος Τζαβέλλας</a:t>
              </a:r>
              <a:endPara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0" y="2448048"/>
              <a:ext cx="10363200" cy="623610"/>
            </a:xfrm>
            <a:prstGeom prst="roundRect">
              <a:avLst>
                <a:gd fmla="val 16667" name="adj"/>
              </a:avLst>
            </a:prstGeom>
            <a:solidFill>
              <a:srgbClr val="2CA3EE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"/>
            <p:cNvSpPr txBox="1"/>
            <p:nvPr/>
          </p:nvSpPr>
          <p:spPr>
            <a:xfrm>
              <a:off x="30442" y="2478490"/>
              <a:ext cx="10302316" cy="562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None/>
              </a:pP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Αριθμός Μητρώου:25088</a:t>
              </a:r>
              <a:endPara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/>
          <p:nvPr>
            <p:ph type="title"/>
          </p:nvPr>
        </p:nvSpPr>
        <p:spPr>
          <a:xfrm>
            <a:off x="913774" y="4838449"/>
            <a:ext cx="10364451" cy="129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b="1" lang="el-GR"/>
              <a:t>ΣΚΟΠΟΣ ΤΗΣ ΕΡΓΑΣΙΑΣ</a:t>
            </a:r>
            <a:endParaRPr b="1"/>
          </a:p>
        </p:txBody>
      </p:sp>
      <p:grpSp>
        <p:nvGrpSpPr>
          <p:cNvPr id="176" name="Google Shape;176;p2"/>
          <p:cNvGrpSpPr/>
          <p:nvPr/>
        </p:nvGrpSpPr>
        <p:grpSpPr>
          <a:xfrm>
            <a:off x="1286934" y="1502239"/>
            <a:ext cx="9618132" cy="2641095"/>
            <a:chOff x="0" y="215305"/>
            <a:chExt cx="9618132" cy="2641095"/>
          </a:xfrm>
        </p:grpSpPr>
        <p:sp>
          <p:nvSpPr>
            <p:cNvPr id="177" name="Google Shape;177;p2"/>
            <p:cNvSpPr/>
            <p:nvPr/>
          </p:nvSpPr>
          <p:spPr>
            <a:xfrm>
              <a:off x="0" y="215305"/>
              <a:ext cx="9618132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58264"/>
                </a:gs>
                <a:gs pos="50000">
                  <a:srgbClr val="CF683C"/>
                </a:gs>
                <a:gs pos="100000">
                  <a:srgbClr val="BE511A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"/>
            <p:cNvSpPr txBox="1"/>
            <p:nvPr/>
          </p:nvSpPr>
          <p:spPr>
            <a:xfrm>
              <a:off x="22246" y="237551"/>
              <a:ext cx="9573640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wentieth Century"/>
                <a:buNone/>
              </a:pPr>
              <a:r>
                <a:rPr b="1" i="0" lang="el-GR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Στόχος:</a:t>
              </a:r>
              <a:r>
                <a:rPr b="0" i="0" lang="el-GR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Η δημιουργία ενός κατανεμημένου συστήματος διαχείρισης "έξυπνων" συσκευών.</a:t>
              </a:r>
              <a:endParaRPr b="0" i="0" sz="19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0" y="725740"/>
              <a:ext cx="9618132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1D69D"/>
                </a:gs>
                <a:gs pos="50000">
                  <a:srgbClr val="50CD8A"/>
                </a:gs>
                <a:gs pos="100000">
                  <a:srgbClr val="2FBC71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22246" y="747986"/>
              <a:ext cx="9573640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wentieth Century"/>
                <a:buNone/>
              </a:pPr>
              <a:r>
                <a:rPr b="1" i="0" lang="el-GR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Βασικές Λειτουργίες:</a:t>
              </a:r>
              <a:endParaRPr b="0" i="0" sz="19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0" y="1181455"/>
              <a:ext cx="9618132" cy="121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 txBox="1"/>
            <p:nvPr/>
          </p:nvSpPr>
          <p:spPr>
            <a:xfrm>
              <a:off x="0" y="1181455"/>
              <a:ext cx="9618132" cy="121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50" lIns="305375" spcFirstLastPara="1" rIns="128000" wrap="square" tIns="228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Char char="•"/>
              </a:pPr>
              <a:r>
                <a:rPr b="0" i="0" lang="el-GR" sz="18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Παρακολούθηση κατανάλωσης σε πραγματικό χρόνο.</a:t>
              </a:r>
              <a:endPara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Char char="•"/>
              </a:pPr>
              <a:r>
                <a:rPr b="0" i="0" lang="el-GR" sz="18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Καταγραφή ενεργειών συντήρησης (Logging).</a:t>
              </a:r>
              <a:endPara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Char char="•"/>
              </a:pPr>
              <a:r>
                <a:rPr b="0" i="0" lang="el-GR" sz="18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Διαχείριση προτιμήσεων χρήστη (Favorites).</a:t>
              </a:r>
              <a:endPara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Char char="•"/>
              </a:pPr>
              <a:r>
                <a:rPr b="0" i="0" lang="el-GR" sz="18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Ενημέρωση καιρού (External API).</a:t>
              </a:r>
              <a:endPara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0" y="2400685"/>
              <a:ext cx="9618132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280D8"/>
                </a:gs>
                <a:gs pos="50000">
                  <a:srgbClr val="A360D1"/>
                </a:gs>
                <a:gs pos="100000">
                  <a:srgbClr val="8B42BD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 txBox="1"/>
            <p:nvPr/>
          </p:nvSpPr>
          <p:spPr>
            <a:xfrm>
              <a:off x="22246" y="2422931"/>
              <a:ext cx="9573640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wentieth Century"/>
                <a:buNone/>
              </a:pPr>
              <a:r>
                <a:rPr b="1" i="0" lang="el-GR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Τεχνολογία Αιχμής:</a:t>
              </a:r>
              <a:r>
                <a:rPr b="0" i="0" lang="el-GR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Πλήρης υλοποίηση σε περιβάλλον </a:t>
              </a:r>
              <a:r>
                <a:rPr b="1" i="0" lang="el-GR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Microservices</a:t>
              </a:r>
              <a:r>
                <a:rPr b="0" i="0" lang="el-GR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με Docker.</a:t>
              </a:r>
              <a:endParaRPr b="0" i="0" sz="19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>
            <p:ph type="title"/>
          </p:nvPr>
        </p:nvSpPr>
        <p:spPr>
          <a:xfrm>
            <a:off x="137695" y="648822"/>
            <a:ext cx="3438144" cy="123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b="1" lang="el-GR" sz="2800"/>
              <a:t>ΑΡΧΙΤΕΚΤΟΝΙΚΗ</a:t>
            </a:r>
            <a:r>
              <a:rPr lang="el-GR" sz="2800"/>
              <a:t> </a:t>
            </a:r>
            <a:r>
              <a:rPr b="1" lang="el-GR"/>
              <a:t>ΣΥΣΤΗΜΑΤΟΣ</a:t>
            </a:r>
            <a:endParaRPr b="1"/>
          </a:p>
        </p:txBody>
      </p:sp>
      <p:sp>
        <p:nvSpPr>
          <p:cNvPr id="190" name="Google Shape;190;p3"/>
          <p:cNvSpPr txBox="1"/>
          <p:nvPr>
            <p:ph idx="1" type="body"/>
          </p:nvPr>
        </p:nvSpPr>
        <p:spPr>
          <a:xfrm>
            <a:off x="368808" y="2004621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Δομή: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5 Αυτόνομα Containers συνδεδεμένα σε κοινό δίκτυο.</a:t>
            </a:r>
            <a:endParaRPr/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Services: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Appsmith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Database: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PostgreSQL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Management: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Adminer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Mock APIs: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Devices &amp; Users (Node.js)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wentieth Century"/>
              <a:buNone/>
            </a:pPr>
            <a:r>
              <a:t/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wentieth Century"/>
              <a:buNone/>
            </a:pPr>
            <a:r>
              <a:t/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Εικόνα που περιέχει κείμενο, στιγμιότυπο οθόνης, λογισμικό, λογισμικό πολυμέσων&#10;&#10;Το περιεχόμενο που δημιουργείται από AI ενδέχεται να είναι εσφαλμένο." id="191" name="Google Shape;1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9673" y="968810"/>
            <a:ext cx="8013519" cy="452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 txBox="1"/>
          <p:nvPr>
            <p:ph type="title"/>
          </p:nvPr>
        </p:nvSpPr>
        <p:spPr>
          <a:xfrm>
            <a:off x="482605" y="3595533"/>
            <a:ext cx="3290887" cy="2452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b="1" lang="el-GR" sz="3600"/>
              <a:t>ΣΧΕΔΙΑΣΜΟΣ ΒΑΣΗΣ ΔΕΔΟΜΕΝΩΝ</a:t>
            </a:r>
            <a:endParaRPr/>
          </a:p>
        </p:txBody>
      </p:sp>
      <p:sp>
        <p:nvSpPr>
          <p:cNvPr id="197" name="Google Shape;197;p4"/>
          <p:cNvSpPr txBox="1"/>
          <p:nvPr>
            <p:ph idx="1" type="body"/>
          </p:nvPr>
        </p:nvSpPr>
        <p:spPr>
          <a:xfrm>
            <a:off x="4223982" y="3752850"/>
            <a:ext cx="7485413" cy="2452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117475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PostgreSQL: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Επιλογή σχεσιακής βάσης για ακεραιότητα δεδομένων.</a:t>
            </a:r>
            <a:endParaRPr/>
          </a:p>
          <a:p>
            <a:pPr indent="-117475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Πίνακας </a:t>
            </a:r>
            <a:r>
              <a:rPr b="1" i="0" lang="el-GR" u="none" cap="none" strike="noStrike">
                <a:highlight>
                  <a:srgbClr val="FFFF00"/>
                </a:highlight>
                <a:latin typeface="Arimo"/>
                <a:ea typeface="Arimo"/>
                <a:cs typeface="Arimo"/>
                <a:sym typeface="Arimo"/>
              </a:rPr>
              <a:t>maintenance_ogs</a:t>
            </a:r>
            <a:r>
              <a:rPr b="1" i="0" lang="el-GR" u="none" cap="none" strike="noStrike">
                <a:highlight>
                  <a:srgbClr val="FFFF00"/>
                </a:highlight>
              </a:rPr>
              <a:t>:</a:t>
            </a:r>
            <a:r>
              <a:rPr b="0" i="0" lang="el-GR" u="none" cap="none" strike="noStrike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Καταγραφή ιστορικού service &amp; κόστους.</a:t>
            </a:r>
            <a:endParaRPr/>
          </a:p>
          <a:p>
            <a:pPr indent="-117475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Πίνακας </a:t>
            </a:r>
            <a:r>
              <a:rPr b="1" i="0" lang="el-GR" u="none" cap="none" strike="noStrike">
                <a:highlight>
                  <a:srgbClr val="FFFF00"/>
                </a:highlight>
                <a:latin typeface="Arimo"/>
                <a:ea typeface="Arimo"/>
                <a:cs typeface="Arimo"/>
                <a:sym typeface="Arimo"/>
              </a:rPr>
              <a:t>favorite_devices</a:t>
            </a:r>
            <a:r>
              <a:rPr b="1" i="0" lang="el-GR" u="none" cap="none" strike="noStrike"/>
              <a:t>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Αποθήκευση αγαπημένων συσκευών.</a:t>
            </a:r>
            <a:endParaRPr/>
          </a:p>
          <a:p>
            <a:pPr indent="-117475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Ασφάλεια: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Πρόσβαση μέσω Adminer με αυθεντικοποίηση (Login).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wentieth Century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Εικόνα που περιέχει κείμενο, στιγμιότυπο οθόνης, λογισμικό, εικονίδιο υπολογιστή&#10;&#10;Το περιεχόμενο που δημιουργείται από AI ενδέχεται να είναι εσφαλμένο." id="198" name="Google Shape;198;p4"/>
          <p:cNvPicPr preferRelativeResize="0"/>
          <p:nvPr/>
        </p:nvPicPr>
        <p:blipFill rotWithShape="1">
          <a:blip r:embed="rId3">
            <a:alphaModFix/>
          </a:blip>
          <a:srcRect b="41752" l="0" r="0" t="0"/>
          <a:stretch/>
        </p:blipFill>
        <p:spPr>
          <a:xfrm>
            <a:off x="20" y="42247"/>
            <a:ext cx="12191980" cy="3710603"/>
          </a:xfrm>
          <a:custGeom>
            <a:rect b="b" l="l" r="r" t="t"/>
            <a:pathLst>
              <a:path extrusionOk="0" h="3692092" w="1219200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Εικόνα που περιέχει κείμενο, στιγμιότυπο οθόνης, αριθμός, γραμματοσειρά&#10;&#10;Το περιεχόμενο που δημιουργείται από AI ενδέχεται να είναι εσφαλμένο." id="203" name="Google Shape;2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86" y="1348614"/>
            <a:ext cx="7894907" cy="4105350"/>
          </a:xfrm>
          <a:prstGeom prst="roundRect">
            <a:avLst>
              <a:gd fmla="val 298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04" name="Google Shape;204;p5"/>
          <p:cNvSpPr txBox="1"/>
          <p:nvPr>
            <p:ph type="title"/>
          </p:nvPr>
        </p:nvSpPr>
        <p:spPr>
          <a:xfrm>
            <a:off x="8196408" y="640831"/>
            <a:ext cx="3352128" cy="1573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b="1" lang="el-GR"/>
              <a:t>ΚΕΝΤΡΙΚΟ DASHBOARD (UI</a:t>
            </a:r>
            <a:r>
              <a:rPr lang="el-GR"/>
              <a:t>)</a:t>
            </a:r>
            <a:endParaRPr/>
          </a:p>
        </p:txBody>
      </p:sp>
      <p:sp>
        <p:nvSpPr>
          <p:cNvPr id="205" name="Google Shape;205;p5"/>
          <p:cNvSpPr txBox="1"/>
          <p:nvPr>
            <p:ph idx="1" type="body"/>
          </p:nvPr>
        </p:nvSpPr>
        <p:spPr>
          <a:xfrm>
            <a:off x="8422550" y="2335860"/>
            <a:ext cx="3352128" cy="3881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270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Dynamic Data: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Λήψη λίστας συσκευών από το Custom API.</a:t>
            </a:r>
            <a:endParaRPr/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Weather Widget: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Διασύνδεση με Open-Meteo API για θερμοκρασία σε πραγματικό χρόνο.</a:t>
            </a:r>
            <a:endParaRPr/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Φιλικότητα: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Καθαρό περιβάλλον χρήστη (UI) φτιαγμένο στο Appsmith.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Εικόνα που περιέχει κείμενο, στιγμιότυπο οθόνης, λογισμικό, αριθμός" id="210" name="Google Shape;2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9504" y="1592824"/>
            <a:ext cx="8152189" cy="4198375"/>
          </a:xfrm>
          <a:prstGeom prst="roundRect">
            <a:avLst>
              <a:gd fmla="val 2392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11" name="Google Shape;211;p6"/>
          <p:cNvSpPr txBox="1"/>
          <p:nvPr>
            <p:ph type="title"/>
          </p:nvPr>
        </p:nvSpPr>
        <p:spPr>
          <a:xfrm>
            <a:off x="382211" y="620190"/>
            <a:ext cx="2864404" cy="15961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b="1" lang="el-GR" sz="2800"/>
              <a:t>ΛΕΙΤΟΥΡΓΙΑ ΕΙΣΑΓΩΓΗΣ </a:t>
            </a:r>
            <a:r>
              <a:rPr b="1" lang="el-GR" sz="3200"/>
              <a:t>(DATA ENTRY)</a:t>
            </a:r>
            <a:endParaRPr b="1" sz="3200"/>
          </a:p>
        </p:txBody>
      </p:sp>
      <p:sp>
        <p:nvSpPr>
          <p:cNvPr id="212" name="Google Shape;212;p6"/>
          <p:cNvSpPr txBox="1"/>
          <p:nvPr>
            <p:ph idx="1" type="body"/>
          </p:nvPr>
        </p:nvSpPr>
        <p:spPr>
          <a:xfrm>
            <a:off x="270307" y="2367092"/>
            <a:ext cx="3436454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270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Φόρμα Συντήρησης: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Ο χρήστης εισάγει περιγραφή και κόστος.</a:t>
            </a:r>
            <a:endParaRPr/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Validation: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Έλεγχος τύπων δεδομένων (π.χ. το κόστος είναι αριθμός).</a:t>
            </a:r>
            <a:endParaRPr/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Αποθήκευση: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Άμεση αποστολή δεδομένων στη βάση (Insert Query).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Εικόνα που περιέχει κείμενο, στιγμιότυπο οθόνης, αριθμός, λογισμικό&#10;&#10;Το περιεχόμενο που δημιουργείται από AI ενδέχεται να είναι εσφαλμένο."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4851" y="1396180"/>
            <a:ext cx="8046757" cy="416419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 txBox="1"/>
          <p:nvPr>
            <p:ph type="title"/>
          </p:nvPr>
        </p:nvSpPr>
        <p:spPr>
          <a:xfrm>
            <a:off x="110392" y="866973"/>
            <a:ext cx="3740515" cy="1573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b="1" lang="el-GR"/>
              <a:t>ΔΙΑΧΕΙΡΙΣΗ "ΑΓΑΠΗΜΕΝΩΝ"</a:t>
            </a:r>
            <a:endParaRPr/>
          </a:p>
        </p:txBody>
      </p:sp>
      <p:sp>
        <p:nvSpPr>
          <p:cNvPr id="219" name="Google Shape;219;p7"/>
          <p:cNvSpPr txBox="1"/>
          <p:nvPr>
            <p:ph idx="1" type="body"/>
          </p:nvPr>
        </p:nvSpPr>
        <p:spPr>
          <a:xfrm>
            <a:off x="294342" y="2214694"/>
            <a:ext cx="3740509" cy="3881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270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Interactive UI: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Χρήση εικονιδίων (Καρδιά / Σπασμένη Καρδιά).</a:t>
            </a:r>
            <a:endParaRPr/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Like Operation: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Προσθήκη στον πίνακα </a:t>
            </a:r>
            <a:r>
              <a:rPr b="0" i="0" lang="el-GR" u="none" cap="none" strike="noStrike">
                <a:highlight>
                  <a:srgbClr val="FFFF00"/>
                </a:highlight>
                <a:latin typeface="Arimo"/>
                <a:ea typeface="Arimo"/>
                <a:cs typeface="Arimo"/>
                <a:sym typeface="Arimo"/>
              </a:rPr>
              <a:t>favorites</a:t>
            </a:r>
            <a:r>
              <a:rPr b="0" i="0" lang="el-GR" u="none" cap="none" strike="noStrike">
                <a:highlight>
                  <a:srgbClr val="FFFF00"/>
                </a:highlight>
              </a:rPr>
              <a:t>.</a:t>
            </a:r>
            <a:endParaRPr b="0" i="0" u="none" cap="none" strike="noStrike"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Unlike Operation: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Διαγραφή από τη βάση (Delete Query).</a:t>
            </a:r>
            <a:endParaRPr/>
          </a:p>
          <a:p>
            <a:pPr indent="-1270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State Management: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Το UI ενημερώνεται άμεσα με την ενέργεια του χρήστη.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/>
          <p:nvPr>
            <p:ph type="title"/>
          </p:nvPr>
        </p:nvSpPr>
        <p:spPr>
          <a:xfrm>
            <a:off x="8467714" y="530299"/>
            <a:ext cx="3352128" cy="1573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b="1" lang="el-GR"/>
              <a:t>ΕΠΑΛΗΘΕΥΣΗ ΔΕΔΟΜΕΝΩΝ</a:t>
            </a:r>
            <a:endParaRPr/>
          </a:p>
        </p:txBody>
      </p:sp>
      <p:sp>
        <p:nvSpPr>
          <p:cNvPr id="225" name="Google Shape;225;p8"/>
          <p:cNvSpPr txBox="1"/>
          <p:nvPr>
            <p:ph idx="1" type="body"/>
          </p:nvPr>
        </p:nvSpPr>
        <p:spPr>
          <a:xfrm>
            <a:off x="8467714" y="1955110"/>
            <a:ext cx="3352128" cy="3881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17475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Data Persistence: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Τα δεδομένα παραμένουν στη βάση ακόμα και μετά από restart.</a:t>
            </a:r>
            <a:endParaRPr/>
          </a:p>
          <a:p>
            <a:pPr indent="-117475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Εποπτεία: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Επιβεβαίωση των εγγραφών μέσω του Adminer.</a:t>
            </a:r>
            <a:endParaRPr/>
          </a:p>
          <a:p>
            <a:pPr indent="-117475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l-GR" u="none" cap="none" strike="noStrike">
                <a:latin typeface="Arial"/>
                <a:ea typeface="Arial"/>
                <a:cs typeface="Arial"/>
                <a:sym typeface="Arial"/>
              </a:rPr>
              <a:t>Write Successful:</a:t>
            </a:r>
            <a:r>
              <a:rPr b="0" i="0" lang="el-GR" u="none" cap="none" strike="noStrike">
                <a:latin typeface="Arial"/>
                <a:ea typeface="Arial"/>
                <a:cs typeface="Arial"/>
                <a:sym typeface="Arial"/>
              </a:rPr>
              <a:t> Η αγαπημένη συσκευή καταχωρήθηκε σωστά με Timestamp.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wentieth Century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Εικόνα που περιέχει κείμενο, στιγμιότυπο οθόνης, λογισμικό, εικονίδιο υπολογιστή&#10;&#10;Το περιεχόμενο που δημιουργείται από AI ενδέχεται να είναι εσφαλμένο." id="226" name="Google Shape;2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968" y="1339154"/>
            <a:ext cx="7936336" cy="4107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 txBox="1"/>
          <p:nvPr>
            <p:ph type="title"/>
          </p:nvPr>
        </p:nvSpPr>
        <p:spPr>
          <a:xfrm>
            <a:off x="98323" y="1314450"/>
            <a:ext cx="3746089" cy="3680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b="1" lang="el-GR"/>
              <a:t>ΣΥΜΠΕΡΑΣΜΑΤΑ</a:t>
            </a:r>
            <a:endParaRPr/>
          </a:p>
        </p:txBody>
      </p:sp>
      <p:grpSp>
        <p:nvGrpSpPr>
          <p:cNvPr id="232" name="Google Shape;232;p9"/>
          <p:cNvGrpSpPr/>
          <p:nvPr/>
        </p:nvGrpSpPr>
        <p:grpSpPr>
          <a:xfrm>
            <a:off x="4594225" y="946939"/>
            <a:ext cx="6683374" cy="4491045"/>
            <a:chOff x="0" y="57939"/>
            <a:chExt cx="6683374" cy="4491045"/>
          </a:xfrm>
        </p:grpSpPr>
        <p:sp>
          <p:nvSpPr>
            <p:cNvPr id="233" name="Google Shape;233;p9"/>
            <p:cNvSpPr/>
            <p:nvPr/>
          </p:nvSpPr>
          <p:spPr>
            <a:xfrm>
              <a:off x="0" y="57939"/>
              <a:ext cx="6683374" cy="106660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3D3BB"/>
                </a:gs>
                <a:gs pos="50000">
                  <a:srgbClr val="52CAAE"/>
                </a:gs>
                <a:gs pos="100000">
                  <a:srgbClr val="32B89B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9"/>
            <p:cNvSpPr txBox="1"/>
            <p:nvPr/>
          </p:nvSpPr>
          <p:spPr>
            <a:xfrm>
              <a:off x="52067" y="110006"/>
              <a:ext cx="6579240" cy="962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None/>
              </a:pP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✅ Επιτυχής υλοποίηση πλήρους συστήματος </a:t>
              </a:r>
              <a:r>
                <a:rPr b="1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Microservices</a:t>
              </a: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.</a:t>
              </a:r>
              <a:endPara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0" y="1199421"/>
              <a:ext cx="6683374" cy="106660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5CF93"/>
                </a:gs>
                <a:gs pos="50000">
                  <a:srgbClr val="54C67C"/>
                </a:gs>
                <a:gs pos="100000">
                  <a:srgbClr val="36B464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9"/>
            <p:cNvSpPr txBox="1"/>
            <p:nvPr/>
          </p:nvSpPr>
          <p:spPr>
            <a:xfrm>
              <a:off x="52067" y="1251488"/>
              <a:ext cx="6579240" cy="962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None/>
              </a:pP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✅ Κάλυψη κύκλου CRUD </a:t>
              </a:r>
              <a:r>
                <a:rPr b="1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(Create, Read, Update, Delete).</a:t>
              </a:r>
              <a:endPara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2340902"/>
              <a:ext cx="6683374" cy="106660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7ACD77"/>
                </a:gs>
                <a:gs pos="50000">
                  <a:srgbClr val="5CC358"/>
                </a:gs>
                <a:gs pos="100000">
                  <a:srgbClr val="40B03A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9"/>
            <p:cNvSpPr txBox="1"/>
            <p:nvPr/>
          </p:nvSpPr>
          <p:spPr>
            <a:xfrm>
              <a:off x="52067" y="2392969"/>
              <a:ext cx="6579240" cy="962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None/>
              </a:pP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✅ Διασύνδεση </a:t>
              </a:r>
              <a:r>
                <a:rPr b="1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Frontend, Backend, Database και External APIs</a:t>
              </a: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.</a:t>
              </a:r>
              <a:endPara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0" y="3482383"/>
              <a:ext cx="6683374" cy="106660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9CCA7B"/>
                </a:gs>
                <a:gs pos="50000">
                  <a:srgbClr val="89C15B"/>
                </a:gs>
                <a:gs pos="100000">
                  <a:srgbClr val="71AE3E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25400">
                <a:srgbClr val="000000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9"/>
            <p:cNvSpPr txBox="1"/>
            <p:nvPr/>
          </p:nvSpPr>
          <p:spPr>
            <a:xfrm>
              <a:off x="52067" y="3534450"/>
              <a:ext cx="6579240" cy="962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None/>
              </a:pPr>
              <a:r>
                <a:rPr b="0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✅ Χρήση σύγχρονων εργαλείων </a:t>
              </a:r>
              <a:r>
                <a:rPr b="1" i="0" lang="el-GR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(Docker, Low-code).</a:t>
              </a:r>
              <a:endPara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 txBox="1"/>
          <p:nvPr>
            <p:ph type="title"/>
          </p:nvPr>
        </p:nvSpPr>
        <p:spPr>
          <a:xfrm>
            <a:off x="0" y="2052194"/>
            <a:ext cx="3195484" cy="22051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wentieth Century"/>
              <a:buNone/>
            </a:pPr>
            <a:r>
              <a:rPr b="1" lang="el-GR" sz="4000"/>
              <a:t>ΔΙΑΔΙΚΑΣIΑ ΕΚΚIΝΗΣΗΣ</a:t>
            </a:r>
            <a:br>
              <a:rPr b="1" lang="el-GR" sz="4000"/>
            </a:br>
            <a:r>
              <a:rPr b="1" lang="el-GR" sz="4000"/>
              <a:t>(DEPLOYMENT)</a:t>
            </a:r>
            <a:br>
              <a:rPr lang="el-GR" sz="3100">
                <a:solidFill>
                  <a:schemeClr val="lt1"/>
                </a:solidFill>
              </a:rPr>
            </a:br>
            <a:endParaRPr sz="3100">
              <a:solidFill>
                <a:schemeClr val="lt1"/>
              </a:solidFill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979078" y="960814"/>
            <a:ext cx="6247722" cy="4830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9525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4402393" y="889843"/>
            <a:ext cx="6130412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l-G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Απαραίτητα Εργαλεία: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Studio Code (VS Code)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 Desktop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Βήματα Εκτέλεσης: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Άνοιγμα του φακέλου εργασίας στο </a:t>
            </a: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Εντοπισμός του αρχείου </a:t>
            </a: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compose.yaml.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Δεξί κλικ </a:t>
            </a: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στο αρχείο 🡪 Επιλογή </a:t>
            </a: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"Compose Up".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(Εναλλακτικά μέσω τερματικού: docker compose up -d)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Επιβεβαίωση: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Έλεγχος ότι και τα 5 containers βρίσκονται σε κατάσταση </a:t>
            </a: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(Πράσινο).</a:t>
            </a:r>
            <a:endParaRPr/>
          </a:p>
        </p:txBody>
      </p:sp>
      <p:cxnSp>
        <p:nvCxnSpPr>
          <p:cNvPr id="248" name="Google Shape;248;p10"/>
          <p:cNvCxnSpPr/>
          <p:nvPr/>
        </p:nvCxnSpPr>
        <p:spPr>
          <a:xfrm>
            <a:off x="326431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 txBox="1"/>
          <p:nvPr/>
        </p:nvSpPr>
        <p:spPr>
          <a:xfrm>
            <a:off x="3421626" y="1379673"/>
            <a:ext cx="6096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Frontend (Appsmith - localhost:80):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-Επιλογή "Import from File".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-Φόρτωση αρχείου: EcoSmart Home.json.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Database (PostgreSQL - localhost:5432):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-Διαχείριση μέσω </a:t>
            </a:r>
            <a:r>
              <a:rPr b="1"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Adminer </a:t>
            </a:r>
            <a:r>
              <a:rPr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localhost:8080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-Login: Server: </a:t>
            </a:r>
            <a:r>
              <a:rPr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eco-db | User: admin | Pass: adminpass.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-Ενέργεια: </a:t>
            </a:r>
            <a:r>
              <a:rPr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του αρχείου </a:t>
            </a:r>
            <a:r>
              <a:rPr lang="el-GR" sz="2000">
                <a:solidFill>
                  <a:schemeClr val="dk1"/>
                </a:solidFill>
              </a:rPr>
              <a:t>ecohome_db.sql</a:t>
            </a:r>
            <a:r>
              <a:rPr lang="el-G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για δημιουργία πινάκων.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2969343" y="310709"/>
            <a:ext cx="597801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ΑΡΧΙΚΟΠΟΙΗΣΗ ΔΕΔΟΜΕΝΩΝ (Setup)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/>
        </p:nvSpPr>
        <p:spPr>
          <a:xfrm>
            <a:off x="3047999" y="1608361"/>
            <a:ext cx="6801853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1.Έλεγχος Διεπαφής (Read):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Επιβεβαίωση λίστας συσκευών &amp; Widget καιρού στο Dashboard.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Εγγραφή Δεδομένων (Create):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Νέα καταχώρηση στη φόρμα "Συντήρηση" 🡪 </a:t>
            </a: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Αποθήκευση.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Επιχειρησιακή Λογική (Logic):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Χρήση κουμπιού </a:t>
            </a: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Like/Unlike </a:t>
            </a: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(❤️) για τα Αγαπημένα.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Επαλήθευση (Persistence):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Έλεγχος στο </a:t>
            </a:r>
            <a:r>
              <a:rPr b="1"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Adminer</a:t>
            </a: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ότι οι εγγραφές υπάρχουν στους πίνακες maintenance_logs και favorite_devices.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2959509" y="636328"/>
            <a:ext cx="66761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-G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Σενάριο Ελέγχου Λειτουργίας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Εικόνα που περιέχει κείμενο, λευκό, στιγμιότυπο οθόνης, ασπρόμαυρο&#10;&#10;Το περιεχόμενο που δημιουργείται από AI ενδέχεται να είναι εσφαλμένο." id="267" name="Google Shape;267;p13"/>
          <p:cNvPicPr preferRelativeResize="0"/>
          <p:nvPr/>
        </p:nvPicPr>
        <p:blipFill rotWithShape="1">
          <a:blip r:embed="rId5">
            <a:alphaModFix/>
          </a:blip>
          <a:srcRect b="15821" l="0" r="0" t="9179"/>
          <a:stretch/>
        </p:blipFill>
        <p:spPr>
          <a:xfrm>
            <a:off x="-1173705" y="10"/>
            <a:ext cx="12191979" cy="685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Σταγονίδιο">
  <a:themeElements>
    <a:clrScheme name="Σταγονίδιο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2026-01-23T15:43:20Z</dcterms:created>
  <dc:creator>Petros Tzavellas</dc:creator>
</cp:coreProperties>
</file>